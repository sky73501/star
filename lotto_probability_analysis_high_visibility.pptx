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0" y="1645920"/>
            <a:ext cx="1280160" cy="12801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Malgun Gothic"/>
              </a:rPr>
              <a:t>7</a:t>
            </a:r>
          </a:p>
        </p:txBody>
      </p:sp>
      <p:sp>
        <p:nvSpPr>
          <p:cNvPr id="3" name="Oval 2"/>
          <p:cNvSpPr/>
          <p:nvPr/>
        </p:nvSpPr>
        <p:spPr>
          <a:xfrm>
            <a:off x="7315200" y="1645920"/>
            <a:ext cx="1280160" cy="12801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Malgun Gothic"/>
              </a:rPr>
              <a:t>13</a:t>
            </a:r>
          </a:p>
        </p:txBody>
      </p:sp>
      <p:sp>
        <p:nvSpPr>
          <p:cNvPr id="4" name="Oval 3"/>
          <p:cNvSpPr/>
          <p:nvPr/>
        </p:nvSpPr>
        <p:spPr>
          <a:xfrm>
            <a:off x="5669280" y="3154679"/>
            <a:ext cx="1280160" cy="128016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Malgun Gothic"/>
              </a:rPr>
              <a:t>21</a:t>
            </a:r>
          </a:p>
        </p:txBody>
      </p:sp>
      <p:sp>
        <p:nvSpPr>
          <p:cNvPr id="5" name="Oval 4"/>
          <p:cNvSpPr/>
          <p:nvPr/>
        </p:nvSpPr>
        <p:spPr>
          <a:xfrm>
            <a:off x="7315200" y="3154679"/>
            <a:ext cx="1280160" cy="128016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Malgun Gothic"/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475488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11827"/>
                </a:solidFill>
                <a:latin typeface="Malgun Gothic"/>
              </a:rPr>
              <a:t>확률과 통계를 통한
로또 번호의 수학적 탐구</a:t>
            </a:r>
          </a:p>
          <a:p>
            <a:r>
              <a:rPr sz="2000" b="0">
                <a:solidFill>
                  <a:srgbClr val="64748B"/>
                </a:solidFill>
                <a:latin typeface="Malgun Gothic"/>
              </a:rPr>
              <a:t>실제 로또 데이터로 살펴보는 무작위성과 예측의 한계</a:t>
            </a:r>
          </a:p>
          <a:p>
            <a:r>
              <a:rPr sz="1800" b="0">
                <a:solidFill>
                  <a:srgbClr val="64748B"/>
                </a:solidFill>
                <a:latin typeface="Malgun Gothic"/>
              </a:rPr>
              <a:t>OO고등학교 O학년 OOO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Malgun Gothic"/>
              </a:rPr>
              <a:t>발표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83080"/>
            <a:ext cx="7315200" cy="3771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0">
                <a:solidFill>
                  <a:srgbClr val="111827"/>
                </a:solidFill>
                <a:latin typeface="Malgun Gothic"/>
              </a:rPr>
              <a:t>1. 탐구 주제와 탐구 문제</a:t>
            </a:r>
          </a:p>
          <a:p>
            <a:pPr/>
            <a:r>
              <a:rPr sz="2400" b="0">
                <a:solidFill>
                  <a:srgbClr val="111827"/>
                </a:solidFill>
                <a:latin typeface="Malgun Gothic"/>
              </a:rPr>
              <a:t>2. 탐구 동기 및 선정 이유</a:t>
            </a:r>
          </a:p>
          <a:p>
            <a:pPr/>
            <a:r>
              <a:rPr sz="2400" b="0">
                <a:solidFill>
                  <a:srgbClr val="111827"/>
                </a:solidFill>
                <a:latin typeface="Malgun Gothic"/>
              </a:rPr>
              <a:t>3. 이론적 배경 (확률 · 통계)</a:t>
            </a:r>
          </a:p>
          <a:p>
            <a:pPr/>
            <a:r>
              <a:rPr sz="2400" b="0">
                <a:solidFill>
                  <a:srgbClr val="111827"/>
                </a:solidFill>
                <a:latin typeface="Malgun Gothic"/>
              </a:rPr>
              <a:t>4. 자료 수집 및 분석 방법</a:t>
            </a:r>
          </a:p>
          <a:p>
            <a:pPr/>
            <a:r>
              <a:rPr sz="2400" b="0">
                <a:solidFill>
                  <a:srgbClr val="111827"/>
                </a:solidFill>
                <a:latin typeface="Malgun Gothic"/>
              </a:rPr>
              <a:t>5. 번호별 통계 결과</a:t>
            </a:r>
          </a:p>
          <a:p>
            <a:pPr/>
            <a:r>
              <a:rPr sz="2400" b="0">
                <a:solidFill>
                  <a:srgbClr val="111827"/>
                </a:solidFill>
                <a:latin typeface="Malgun Gothic"/>
              </a:rPr>
              <a:t>6. 탐구 문제별 결론과 느낀 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Malgun Gothic"/>
              </a:rPr>
              <a:t>탐구 문제</a:t>
            </a:r>
          </a:p>
          <a:p>
            <a:pPr algn="l"/>
            <a:r>
              <a:rPr sz="1800" b="0">
                <a:solidFill>
                  <a:srgbClr val="64748B"/>
                </a:solidFill>
                <a:latin typeface="Malgun Gothic"/>
              </a:rPr>
              <a:t>로또 번호를 둘러싼 세 가지 질문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7315200" cy="822960"/>
          </a:xfrm>
          <a:prstGeom prst="roundRect">
            <a:avLst/>
          </a:prstGeom>
          <a:solidFill>
            <a:srgbClr val="F5F7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0">
                <a:solidFill>
                  <a:srgbClr val="111827"/>
                </a:solidFill>
                <a:latin typeface="Malgun Gothic"/>
              </a:rPr>
              <a:t>문제 1  ·  로또 번호에 수학적 규칙이 존재할까?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880360"/>
            <a:ext cx="7315200" cy="822960"/>
          </a:xfrm>
          <a:prstGeom prst="roundRect">
            <a:avLst/>
          </a:prstGeom>
          <a:solidFill>
            <a:srgbClr val="F5F7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0">
                <a:solidFill>
                  <a:srgbClr val="111827"/>
                </a:solidFill>
                <a:latin typeface="Malgun Gothic"/>
              </a:rPr>
              <a:t>문제 2  ·  특정 숫자가 다른 숫자보다 더 자주 나올까?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840480"/>
            <a:ext cx="7315200" cy="822960"/>
          </a:xfrm>
          <a:prstGeom prst="roundRect">
            <a:avLst/>
          </a:prstGeom>
          <a:solidFill>
            <a:srgbClr val="F5F7FF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0">
                <a:solidFill>
                  <a:srgbClr val="111827"/>
                </a:solidFill>
                <a:latin typeface="Malgun Gothic"/>
              </a:rPr>
              <a:t>문제 3  ·  수학적 확률로 다음 회차 번호를 예측할 수 있을까?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Malgun Gothic"/>
              </a:rPr>
              <a:t>탐구 주제 및 문제 선정 이유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783080"/>
            <a:ext cx="3657600" cy="308610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2563EB"/>
                </a:solidFill>
                <a:latin typeface="Malgun Gothic"/>
              </a:rPr>
              <a:t>현실 속 확률에 대한 궁금증</a:t>
            </a:r>
          </a:p>
          <a:p>
            <a:r>
              <a:rPr sz="1800" b="0">
                <a:solidFill>
                  <a:srgbClr val="111827"/>
                </a:solidFill>
                <a:latin typeface="Malgun Gothic"/>
              </a:rPr>
              <a:t>· 교과서 속 동전·주사위 대신</a:t>
            </a:r>
          </a:p>
          <a:p>
            <a:r>
              <a:rPr sz="1800" b="0">
                <a:solidFill>
                  <a:srgbClr val="111827"/>
                </a:solidFill>
                <a:latin typeface="Malgun Gothic"/>
              </a:rPr>
              <a:t>  실제 돈이 걸린 로또를 분석해 보고 싶었음</a:t>
            </a:r>
          </a:p>
          <a:p>
            <a:r>
              <a:rPr sz="1800" b="0">
                <a:solidFill>
                  <a:srgbClr val="111827"/>
                </a:solidFill>
                <a:latin typeface="Malgun Gothic"/>
              </a:rPr>
              <a:t>· 로또는 주변에서 흔하지만</a:t>
            </a:r>
          </a:p>
          <a:p>
            <a:r>
              <a:rPr sz="1800" b="0">
                <a:solidFill>
                  <a:srgbClr val="111827"/>
                </a:solidFill>
                <a:latin typeface="Malgun Gothic"/>
              </a:rPr>
              <a:t>  정확한 확률 구조는 잘 모르는 경우가 많음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783080"/>
            <a:ext cx="3657600" cy="3086100"/>
          </a:xfrm>
          <a:prstGeom prst="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6A34A"/>
                </a:solidFill>
                <a:latin typeface="Malgun Gothic"/>
              </a:rPr>
              <a:t>숫자 패턴과 착각에 대한 호기심</a:t>
            </a:r>
          </a:p>
          <a:p>
            <a:r>
              <a:rPr sz="1800" b="0">
                <a:solidFill>
                  <a:srgbClr val="111827"/>
                </a:solidFill>
                <a:latin typeface="Malgun Gothic"/>
              </a:rPr>
              <a:t>· '이 번호는 잘 나온다'는 말을</a:t>
            </a:r>
          </a:p>
          <a:p>
            <a:r>
              <a:rPr sz="1800" b="0">
                <a:solidFill>
                  <a:srgbClr val="111827"/>
                </a:solidFill>
                <a:latin typeface="Malgun Gothic"/>
              </a:rPr>
              <a:t>  실제 데이터로 확인해 보고 싶었음</a:t>
            </a:r>
          </a:p>
          <a:p>
            <a:r>
              <a:rPr sz="1800" b="0">
                <a:solidFill>
                  <a:srgbClr val="111827"/>
                </a:solidFill>
                <a:latin typeface="Malgun Gothic"/>
              </a:rPr>
              <a:t>· 많이 나온 번호를 고르면 정말 유리한지,</a:t>
            </a:r>
          </a:p>
          <a:p>
            <a:r>
              <a:rPr sz="1800" b="0">
                <a:solidFill>
                  <a:srgbClr val="111827"/>
                </a:solidFill>
                <a:latin typeface="Malgun Gothic"/>
              </a:rPr>
              <a:t>  오랫동안 안 나온 번호는 곧 나올지 궁금했음</a:t>
            </a:r>
          </a:p>
          <a:p>
            <a:r>
              <a:rPr sz="1800" b="0">
                <a:solidFill>
                  <a:srgbClr val="111827"/>
                </a:solidFill>
                <a:latin typeface="Malgun Gothic"/>
              </a:rPr>
              <a:t>· 도박사의 오류 같은 착각을 직접 느껴 보고자 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Malgun Gothic"/>
              </a:rPr>
              <a:t>이론적 배경 ①  로또 6/45 구조</a:t>
            </a:r>
          </a:p>
          <a:p>
            <a:pPr algn="l"/>
            <a:r>
              <a:rPr sz="1800" b="0">
                <a:solidFill>
                  <a:srgbClr val="64748B"/>
                </a:solidFill>
                <a:latin typeface="Malgun Gothic"/>
              </a:rPr>
              <a:t>가능한 모든 조합의 수와 1등 확률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80160" y="2057400"/>
            <a:ext cx="6583680" cy="2057400"/>
          </a:xfrm>
          <a:prstGeom prst="roundRect">
            <a:avLst/>
          </a:prstGeom>
          <a:solidFill>
            <a:srgbClr val="F5F7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2563EB"/>
                </a:solidFill>
                <a:latin typeface="Malgun Gothic"/>
              </a:rPr>
              <a:t>45C6  =  8,145,060</a:t>
            </a:r>
          </a:p>
          <a:p>
            <a:pPr algn="ctr"/>
            <a:r>
              <a:rPr sz="2200" b="0">
                <a:solidFill>
                  <a:srgbClr val="111827"/>
                </a:solidFill>
                <a:latin typeface="Malgun Gothic"/>
              </a:rPr>
              <a:t>→ 1등 당첨 확률 ≈ 1 / 8,145,060  (거의 0에 가까운 확률)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Malgun Gothic"/>
              </a:rPr>
              <a:t>이론적 배경 ②  기대값과 통계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830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Malgun Gothic"/>
              </a:rPr>
              <a:t>P(특정 번호가 한 회차에서 뽑힐 확률) = 6 / 45 ≈ 13.3%</a:t>
            </a:r>
          </a:p>
          <a:p>
            <a:pPr algn="ctr"/>
            <a:r>
              <a:rPr sz="2200" b="0">
                <a:solidFill>
                  <a:srgbClr val="64748B"/>
                </a:solidFill>
                <a:latin typeface="Malgun Gothic"/>
              </a:rPr>
              <a:t>→ 1 ~ 1199회 동안, 한 번호의 기대 등장 횟수 ≈ 159.9회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771900"/>
            <a:ext cx="21945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Malgun Gothic"/>
              </a:rPr>
              <a:t>상대도수: 실제 등장 비율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3771900"/>
            <a:ext cx="21945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Malgun Gothic"/>
              </a:rPr>
              <a:t>표준편차: 번호별 등장 횟수의 흩어진 정도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771900"/>
            <a:ext cx="21945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Malgun Gothic"/>
              </a:rPr>
              <a:t>대수의 법칙: 회차가 많을수록 이론값에 수렴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Malgun Gothic"/>
              </a:rPr>
              <a:t>탐구 과정 및 방법</a:t>
            </a:r>
          </a:p>
          <a:p>
            <a:pPr algn="l"/>
            <a:r>
              <a:rPr sz="1800" b="0">
                <a:solidFill>
                  <a:srgbClr val="64748B"/>
                </a:solidFill>
                <a:latin typeface="Malgun Gothic"/>
              </a:rPr>
              <a:t>데이터 수집부터 그래프 시각화까지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743200"/>
            <a:ext cx="1316736" cy="1234440"/>
          </a:xfrm>
          <a:prstGeom prst="roundRect">
            <a:avLst/>
          </a:prstGeom>
          <a:solidFill>
            <a:srgbClr val="F5F7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Malgun Gothic"/>
              </a:rPr>
              <a:t>1. 로또 1 ~ 1199회
당첨 번호 수집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2743200"/>
            <a:ext cx="1316736" cy="1234440"/>
          </a:xfrm>
          <a:prstGeom prst="roundRect">
            <a:avLst/>
          </a:prstGeom>
          <a:solidFill>
            <a:srgbClr val="F5F7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Malgun Gothic"/>
              </a:rPr>
              <a:t>2. 번호(1 ~ 45)별
등장 횟수 집계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2743200"/>
            <a:ext cx="1316736" cy="1234440"/>
          </a:xfrm>
          <a:prstGeom prst="roundRect">
            <a:avLst/>
          </a:prstGeom>
          <a:solidFill>
            <a:srgbClr val="F5F7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Malgun Gothic"/>
              </a:rPr>
              <a:t>3. 평균 · 표준편차 ·
상대도수 계산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2743200"/>
            <a:ext cx="1316736" cy="1234440"/>
          </a:xfrm>
          <a:prstGeom prst="roundRect">
            <a:avLst/>
          </a:prstGeom>
          <a:solidFill>
            <a:srgbClr val="F5F7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Malgun Gothic"/>
              </a:rPr>
              <a:t>4. 그래프 시각화 및
패턴 탐색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743200"/>
            <a:ext cx="1316736" cy="1234440"/>
          </a:xfrm>
          <a:prstGeom prst="roundRect">
            <a:avLst/>
          </a:prstGeom>
          <a:solidFill>
            <a:srgbClr val="F5F7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Malgun Gothic"/>
              </a:rPr>
              <a:t>5. 탐구 문제에 맞춰
결론 도출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Malgun Gothic"/>
              </a:rPr>
              <a:t>결과 ①  번호별 등장 횟수 분포</a:t>
            </a:r>
          </a:p>
          <a:p>
            <a:pPr algn="l"/>
            <a:r>
              <a:rPr sz="1800" b="0">
                <a:solidFill>
                  <a:srgbClr val="64748B"/>
                </a:solidFill>
                <a:latin typeface="Malgun Gothic"/>
              </a:rPr>
              <a:t>이론값과 실제 데이터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3200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000" b="0">
                <a:solidFill>
                  <a:srgbClr val="111827"/>
                </a:solidFill>
                <a:latin typeface="Malgun Gothic"/>
              </a:rPr>
              <a:t>- 이론적 기대값: 약 159.9회</a:t>
            </a:r>
          </a:p>
          <a:p>
            <a:pPr/>
            <a:r>
              <a:rPr sz="2000" b="0">
                <a:solidFill>
                  <a:srgbClr val="111827"/>
                </a:solidFill>
                <a:latin typeface="Malgun Gothic"/>
              </a:rPr>
              <a:t>- 실제 평균: 약 159.87회</a:t>
            </a:r>
          </a:p>
          <a:p>
            <a:pPr/>
            <a:r>
              <a:rPr sz="2000" b="0">
                <a:solidFill>
                  <a:srgbClr val="111827"/>
                </a:solidFill>
                <a:latin typeface="Malgun Gothic"/>
              </a:rPr>
              <a:t>- 최소: 131회 (번호 [9])</a:t>
            </a:r>
          </a:p>
          <a:p>
            <a:pPr/>
            <a:r>
              <a:rPr sz="2000" b="0">
                <a:solidFill>
                  <a:srgbClr val="111827"/>
                </a:solidFill>
                <a:latin typeface="Malgun Gothic"/>
              </a:rPr>
              <a:t>- 최대: 181회 (번호 [34])</a:t>
            </a:r>
          </a:p>
          <a:p>
            <a:pPr/>
            <a:r>
              <a:rPr sz="2000" b="0">
                <a:solidFill>
                  <a:srgbClr val="111827"/>
                </a:solidFill>
                <a:latin typeface="Malgun Gothic"/>
              </a:rPr>
              <a:t>→ 전체적으로 기대값 주변에 모여 있음</a:t>
            </a:r>
          </a:p>
        </p:txBody>
      </p:sp>
      <p:pic>
        <p:nvPicPr>
          <p:cNvPr id="4" name="Picture 3" descr="lotto_bar_highv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920240"/>
            <a:ext cx="4389120" cy="1706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Malgun Gothic"/>
              </a:rPr>
              <a:t>결과 ②  기대값 대비 편차</a:t>
            </a:r>
          </a:p>
          <a:p>
            <a:pPr algn="l"/>
            <a:r>
              <a:rPr sz="1800" b="0">
                <a:solidFill>
                  <a:srgbClr val="64748B"/>
                </a:solidFill>
                <a:latin typeface="Malgun Gothic"/>
              </a:rPr>
              <a:t>특정 숫자가 정말 더 자주 나오는지?</a:t>
            </a:r>
          </a:p>
        </p:txBody>
      </p:sp>
      <p:pic>
        <p:nvPicPr>
          <p:cNvPr id="3" name="Picture 2" descr="lotto_dev_highv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83080"/>
            <a:ext cx="7315200" cy="284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4577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11827"/>
                </a:solidFill>
                <a:latin typeface="Malgun Gothic"/>
              </a:rPr>
              <a:t>표준편차 ≈ 10.27회 → 번호별 차이는 존재하지만 대부분 자연스러운 통계적 변동 범위입니다.
따라서 '압도적으로 유리한 행운의 번호'는 통계적으로 뚜렷하게 나타나지 않습니다.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Malgun Gothic"/>
              </a:rPr>
              <a:t>결과 ③  1등 당첨 확률 인포그래픽</a:t>
            </a:r>
          </a:p>
          <a:p>
            <a:pPr algn="l"/>
            <a:r>
              <a:rPr sz="1800" b="0">
                <a:solidFill>
                  <a:srgbClr val="64748B"/>
                </a:solidFill>
                <a:latin typeface="Malgun Gothic"/>
              </a:rPr>
              <a:t>로또는 얼마나 희박한 사건인가?</a:t>
            </a:r>
          </a:p>
        </p:txBody>
      </p:sp>
      <p:pic>
        <p:nvPicPr>
          <p:cNvPr id="3" name="Picture 2" descr="lotto_pie_highv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0"/>
            <a:ext cx="3200400" cy="32004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389120" y="2057400"/>
            <a:ext cx="3840480" cy="2194560"/>
          </a:xfrm>
          <a:prstGeom prst="roundRect">
            <a:avLst/>
          </a:prstGeom>
          <a:solidFill>
            <a:srgbClr val="F5F7FF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EA580C"/>
                </a:solidFill>
                <a:latin typeface="Malgun Gothic"/>
              </a:rPr>
              <a:t>1등 당첨 확률</a:t>
            </a:r>
          </a:p>
          <a:p>
            <a:r>
              <a:rPr sz="1800" b="0">
                <a:solidFill>
                  <a:srgbClr val="111827"/>
                </a:solidFill>
                <a:latin typeface="Malgun Gothic"/>
              </a:rPr>
              <a:t>· 약 1 / 8,145,060 (0.000012%)</a:t>
            </a:r>
          </a:p>
          <a:p>
            <a:r>
              <a:rPr sz="1800" b="0">
                <a:solidFill>
                  <a:srgbClr val="111827"/>
                </a:solidFill>
                <a:latin typeface="Malgun Gothic"/>
              </a:rPr>
              <a:t>· 거의 '기적'에 가까운 희박한 사건</a:t>
            </a:r>
          </a:p>
          <a:p>
            <a:r>
              <a:rPr sz="1800" b="0">
                <a:solidFill>
                  <a:srgbClr val="111827"/>
                </a:solidFill>
                <a:latin typeface="Malgun Gothic"/>
              </a:rPr>
              <a:t>→ 과거 데이터를 이용해 유리해지려는 시도 자체가</a:t>
            </a:r>
          </a:p>
          <a:p>
            <a:r>
              <a:rPr sz="1800" b="0">
                <a:solidFill>
                  <a:srgbClr val="111827"/>
                </a:solidFill>
                <a:latin typeface="Malgun Gothic"/>
              </a:rPr>
              <a:t>   큰 의미가 없음을 보여줌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Malgun Gothic"/>
              </a:rPr>
              <a:t>탐구 문제별 결론</a:t>
            </a:r>
          </a:p>
          <a:p>
            <a:pPr algn="l"/>
            <a:r>
              <a:rPr sz="1800" b="0">
                <a:solidFill>
                  <a:srgbClr val="64748B"/>
                </a:solidFill>
                <a:latin typeface="Malgun Gothic"/>
              </a:rPr>
              <a:t>세 가지 질문에 대한 최종 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400300"/>
            <a:ext cx="2377440" cy="2194560"/>
          </a:xfrm>
          <a:prstGeom prst="roundRect">
            <a:avLst/>
          </a:prstGeom>
          <a:solidFill>
            <a:srgbClr val="F5F7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2563EB"/>
                </a:solidFill>
                <a:latin typeface="Malgun Gothic"/>
              </a:rPr>
              <a:t>문제 1</a:t>
            </a:r>
          </a:p>
          <a:p>
            <a:r>
              <a:rPr sz="1600" b="0">
                <a:solidFill>
                  <a:srgbClr val="111827"/>
                </a:solidFill>
                <a:latin typeface="Malgun Gothic"/>
              </a:rPr>
              <a:t>· 수학적 구조(조합, 확률, 통계)는 존재</a:t>
            </a:r>
          </a:p>
          <a:p>
            <a:r>
              <a:rPr sz="1600" b="0">
                <a:solidFill>
                  <a:srgbClr val="111827"/>
                </a:solidFill>
                <a:latin typeface="Malgun Gothic"/>
              </a:rPr>
              <a:t>· 하지만 특정 번호를 우대하는 규칙은 없음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2400300"/>
            <a:ext cx="2377440" cy="2194560"/>
          </a:xfrm>
          <a:prstGeom prst="roundRect">
            <a:avLst/>
          </a:prstGeom>
          <a:solidFill>
            <a:srgbClr val="F5F7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6A34A"/>
                </a:solidFill>
                <a:latin typeface="Malgun Gothic"/>
              </a:rPr>
              <a:t>문제 2</a:t>
            </a:r>
          </a:p>
          <a:p>
            <a:r>
              <a:rPr sz="1600" b="0">
                <a:solidFill>
                  <a:srgbClr val="111827"/>
                </a:solidFill>
                <a:latin typeface="Malgun Gothic"/>
              </a:rPr>
              <a:t>· 조금 더 자주 나온 번호는 있지만</a:t>
            </a:r>
          </a:p>
          <a:p>
            <a:r>
              <a:rPr sz="1600" b="0">
                <a:solidFill>
                  <a:srgbClr val="111827"/>
                </a:solidFill>
                <a:latin typeface="Malgun Gothic"/>
              </a:rPr>
              <a:t>· 우연으로 설명 가능한 수준</a:t>
            </a:r>
          </a:p>
          <a:p>
            <a:r>
              <a:rPr sz="1600" b="0">
                <a:solidFill>
                  <a:srgbClr val="111827"/>
                </a:solidFill>
                <a:latin typeface="Malgun Gothic"/>
              </a:rPr>
              <a:t>· → '행운 번호'라고 단정하기 어려움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2400300"/>
            <a:ext cx="2377440" cy="2194560"/>
          </a:xfrm>
          <a:prstGeom prst="roundRect">
            <a:avLst/>
          </a:prstGeom>
          <a:solidFill>
            <a:srgbClr val="F5F7FF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EA580C"/>
                </a:solidFill>
                <a:latin typeface="Malgun Gothic"/>
              </a:rPr>
              <a:t>문제 3</a:t>
            </a:r>
          </a:p>
          <a:p>
            <a:r>
              <a:rPr sz="1600" b="0">
                <a:solidFill>
                  <a:srgbClr val="111827"/>
                </a:solidFill>
                <a:latin typeface="Malgun Gothic"/>
              </a:rPr>
              <a:t>· 각 회차는 독립 시행</a:t>
            </a:r>
          </a:p>
          <a:p>
            <a:r>
              <a:rPr sz="1600" b="0">
                <a:solidFill>
                  <a:srgbClr val="111827"/>
                </a:solidFill>
                <a:latin typeface="Malgun Gothic"/>
              </a:rPr>
              <a:t>· 과거 결과만으로 다음 번호 예측은 사실상 불가능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Malgun Gothic"/>
              </a:rPr>
              <a:t>느낀 점 &amp; 질문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714500"/>
            <a:ext cx="7863840" cy="2057400"/>
          </a:xfrm>
          <a:prstGeom prst="roundRect">
            <a:avLst/>
          </a:prstGeom>
          <a:solidFill>
            <a:srgbClr val="F5F7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11827"/>
                </a:solidFill>
                <a:latin typeface="Malgun Gothic"/>
              </a:rPr>
              <a:t>“로또는 여전히 운에 가깝지만,
그 속을 이해하고 설명하는 데 쓰이는 언어는 수학이다.”</a:t>
            </a:r>
          </a:p>
          <a:p>
            <a:pPr algn="ctr"/>
            <a:r>
              <a:rPr sz="1800" b="0">
                <a:solidFill>
                  <a:srgbClr val="64748B"/>
                </a:solidFill>
                <a:latin typeface="Malgun Gothic"/>
              </a:rPr>
              <a:t>이번 탐구를 통해 직관보다 데이터와 확률·통계 분석이 더 신뢰할 수 있다는 것을 느꼈고,
앞으로도 일상 속 현상을 수학적으로 해석해 보고 싶다는 동기를 얻었습니다.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0"/>
            <a:ext cx="78638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DB2777"/>
                </a:solidFill>
                <a:latin typeface="Malgun Gothic"/>
              </a:rPr>
              <a:t>질문 받겠습니다.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